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6"/>
  </p:notesMasterIdLst>
  <p:sldIdLst>
    <p:sldId id="256" r:id="rId2"/>
    <p:sldId id="349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3" r:id="rId19"/>
    <p:sldId id="332" r:id="rId20"/>
    <p:sldId id="346" r:id="rId21"/>
    <p:sldId id="342" r:id="rId22"/>
    <p:sldId id="334" r:id="rId23"/>
    <p:sldId id="335" r:id="rId24"/>
    <p:sldId id="336" r:id="rId25"/>
    <p:sldId id="337" r:id="rId26"/>
    <p:sldId id="338" r:id="rId27"/>
    <p:sldId id="339" r:id="rId28"/>
    <p:sldId id="344" r:id="rId29"/>
    <p:sldId id="340" r:id="rId30"/>
    <p:sldId id="341" r:id="rId31"/>
    <p:sldId id="343" r:id="rId32"/>
    <p:sldId id="347" r:id="rId33"/>
    <p:sldId id="345" r:id="rId34"/>
    <p:sldId id="348" r:id="rId3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3366CC"/>
    <a:srgbClr val="003399"/>
    <a:srgbClr val="0033CC"/>
    <a:srgbClr val="0066CC"/>
    <a:srgbClr val="000099"/>
    <a:srgbClr val="FF33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BED04-FE4B-821D-7C5C-FEDBDA3F8DB7}" v="10" dt="2024-03-27T04:29:51.7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3" autoAdjust="0"/>
    <p:restoredTop sz="80142" autoAdjust="0"/>
  </p:normalViewPr>
  <p:slideViewPr>
    <p:cSldViewPr>
      <p:cViewPr varScale="1">
        <p:scale>
          <a:sx n="55" d="100"/>
          <a:sy n="55" d="100"/>
        </p:scale>
        <p:origin x="152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2016" y="-102"/>
      </p:cViewPr>
      <p:guideLst>
        <p:guide orient="horz" pos="2880"/>
        <p:guide pos="2160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r Shah Bin Packier Mohammad" userId="S::mu036985@office.mmu.edu.my::845d1e15-5608-4411-a48d-44a83d5989bd" providerId="AD" clId="Web-{1D7BED04-FE4B-821D-7C5C-FEDBDA3F8DB7}"/>
    <pc:docChg chg="modSld">
      <pc:chgData name="Nathar Shah Bin Packier Mohammad" userId="S::mu036985@office.mmu.edu.my::845d1e15-5608-4411-a48d-44a83d5989bd" providerId="AD" clId="Web-{1D7BED04-FE4B-821D-7C5C-FEDBDA3F8DB7}" dt="2024-03-27T04:29:51.754" v="8" actId="20577"/>
      <pc:docMkLst>
        <pc:docMk/>
      </pc:docMkLst>
      <pc:sldChg chg="modSp">
        <pc:chgData name="Nathar Shah Bin Packier Mohammad" userId="S::mu036985@office.mmu.edu.my::845d1e15-5608-4411-a48d-44a83d5989bd" providerId="AD" clId="Web-{1D7BED04-FE4B-821D-7C5C-FEDBDA3F8DB7}" dt="2024-03-27T04:29:25.675" v="7" actId="20577"/>
        <pc:sldMkLst>
          <pc:docMk/>
          <pc:sldMk cId="0" sldId="256"/>
        </pc:sldMkLst>
        <pc:spChg chg="mod">
          <ac:chgData name="Nathar Shah Bin Packier Mohammad" userId="S::mu036985@office.mmu.edu.my::845d1e15-5608-4411-a48d-44a83d5989bd" providerId="AD" clId="Web-{1D7BED04-FE4B-821D-7C5C-FEDBDA3F8DB7}" dt="2024-03-27T04:29:25.675" v="7" actId="20577"/>
          <ac:spMkLst>
            <pc:docMk/>
            <pc:sldMk cId="0" sldId="256"/>
            <ac:spMk id="2051" creationId="{00000000-0000-0000-0000-000000000000}"/>
          </ac:spMkLst>
        </pc:spChg>
      </pc:sldChg>
      <pc:sldChg chg="modSp">
        <pc:chgData name="Nathar Shah Bin Packier Mohammad" userId="S::mu036985@office.mmu.edu.my::845d1e15-5608-4411-a48d-44a83d5989bd" providerId="AD" clId="Web-{1D7BED04-FE4B-821D-7C5C-FEDBDA3F8DB7}" dt="2024-03-27T04:29:51.754" v="8" actId="20577"/>
        <pc:sldMkLst>
          <pc:docMk/>
          <pc:sldMk cId="2044314765" sldId="348"/>
        </pc:sldMkLst>
        <pc:spChg chg="mod">
          <ac:chgData name="Nathar Shah Bin Packier Mohammad" userId="S::mu036985@office.mmu.edu.my::845d1e15-5608-4411-a48d-44a83d5989bd" providerId="AD" clId="Web-{1D7BED04-FE4B-821D-7C5C-FEDBDA3F8DB7}" dt="2024-03-27T04:29:51.754" v="8" actId="20577"/>
          <ac:spMkLst>
            <pc:docMk/>
            <pc:sldMk cId="2044314765" sldId="34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7FCAE43-244A-4224-AEE1-EEFE455A28A4}" type="datetimeFigureOut">
              <a:rPr lang="en-MY"/>
              <a:pPr>
                <a:defRPr/>
              </a:pPr>
              <a:t>26/3/2024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9172126-2B0B-439B-8EF1-BDDBCA272A8A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65221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172126-2B0B-439B-8EF1-BDDBCA272A8A}" type="slidenum">
              <a:rPr lang="en-MY" smtClean="0"/>
              <a:pPr>
                <a:defRPr/>
              </a:pPr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0007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>
              <a:lnSpc>
                <a:spcPct val="90000"/>
              </a:lnSpc>
              <a:spcBef>
                <a:spcPct val="0"/>
              </a:spcBef>
            </a:pPr>
            <a:endParaRPr lang="en-MY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73F69DF9-7DCC-4DD6-863B-C2F886AF55D2}" type="slidenum">
              <a:rPr lang="en-MY" altLang="en-US"/>
              <a:pPr/>
              <a:t>9</a:t>
            </a:fld>
            <a:endParaRPr lang="en-MY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17775"/>
            <a:ext cx="9144000" cy="9144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479800"/>
            <a:ext cx="9144000" cy="6350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EB4B4-F021-4B13-9C2E-AD12E8F801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83489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F56F2-5169-4283-A1E7-2242F5B55C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49692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D2563-3567-43BC-BE7B-15A033706E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62582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773113"/>
            <a:ext cx="43053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773113"/>
            <a:ext cx="43053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FDF05-069B-4B62-A2E9-00D7C12307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766591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A1439-27E9-42BA-8499-74481AFFF9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4684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FFC5B-1630-4321-8255-592DF4AF3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80965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69697-ED51-4984-9803-C3423990D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99024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792A3-B3B5-48EC-AFCF-BD68DA0163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87774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D6C5D-6A86-4BD0-9D1B-CECD3A89F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9862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346CD-A393-4123-8DF4-65CEF73DF5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76963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88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88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FF06C-0032-41B3-A47F-B85CA75E8E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915264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773113"/>
            <a:ext cx="43053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773113"/>
            <a:ext cx="43053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D3447-A4E5-4B88-B553-55E5268EF2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1022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773113"/>
            <a:ext cx="8763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 b="1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 smtClean="0">
                <a:latin typeface="Arial" charset="0"/>
              </a:defRPr>
            </a:lvl1pPr>
          </a:lstStyle>
          <a:p>
            <a:pPr>
              <a:defRPr/>
            </a:pPr>
            <a:fld id="{D8A83BE3-3BCA-4277-ABA1-9440BB607C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0" cap="none" spc="0">
          <a:ln w="1841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rgbClr val="3399FF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effectLst>
            <a:glow rad="127000">
              <a:schemeClr val="tx1"/>
            </a:glo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effectLst>
            <a:glow rad="127000">
              <a:schemeClr val="tx1"/>
            </a:glo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effectLst>
            <a:glow rad="127000">
              <a:schemeClr val="tx1"/>
            </a:glo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effectLst>
            <a:glow rad="127000">
              <a:schemeClr val="tx1"/>
            </a:glo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effectLst>
            <a:glow rad="127000">
              <a:schemeClr val="tx1"/>
            </a:glo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effectLst>
                  <a:glow rad="127000">
                    <a:srgbClr val="000000"/>
                  </a:glow>
                </a:effectLst>
                <a:ea typeface="+mn-lt"/>
                <a:cs typeface="+mn-lt"/>
              </a:rPr>
              <a:t>CCP6224</a:t>
            </a:r>
            <a:endParaRPr lang="en-US" dirty="0"/>
          </a:p>
          <a:p>
            <a:pPr eaLnBrk="1" hangingPunct="1"/>
            <a:r>
              <a:rPr lang="en-US" altLang="en-US" dirty="0"/>
              <a:t>Object-oriented Analysis and Design</a:t>
            </a:r>
            <a:endParaRPr lang="en-US" altLang="en-US" dirty="0">
              <a:effectLst>
                <a:glow rad="127000">
                  <a:srgbClr val="000000"/>
                </a:glow>
              </a:effectLst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Course Learning Outcomes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234396"/>
              </p:ext>
            </p:extLst>
          </p:nvPr>
        </p:nvGraphicFramePr>
        <p:xfrm>
          <a:off x="170090" y="1152149"/>
          <a:ext cx="8803820" cy="4296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269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MY" sz="200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MY" sz="200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400" noProof="0" dirty="0">
                          <a:effectLst/>
                        </a:rPr>
                        <a:t>Domain</a:t>
                      </a:r>
                      <a:endParaRPr lang="en-MY" sz="24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400" noProof="0" dirty="0">
                          <a:effectLst/>
                        </a:rPr>
                        <a:t>Level</a:t>
                      </a:r>
                      <a:endParaRPr lang="en-MY" sz="24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04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CLO1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800" noProof="0" dirty="0">
                          <a:effectLst/>
                        </a:rPr>
                        <a:t>Explain object-oriented analysis and design concepts</a:t>
                      </a:r>
                      <a:endParaRPr lang="en-MY" sz="28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Cognitive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2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04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CLO2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800" noProof="0" dirty="0">
                          <a:effectLst/>
                        </a:rPr>
                        <a:t>Apply proper object oriented techniques to analyse and design software</a:t>
                      </a:r>
                      <a:endParaRPr lang="en-MY" sz="28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Cognitive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3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04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CLO3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MY" sz="2800" noProof="0" dirty="0">
                          <a:effectLst/>
                        </a:rPr>
                        <a:t>Solve object oriented design problems by employing design patterns</a:t>
                      </a:r>
                      <a:endParaRPr lang="en-MY" sz="28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</a:rPr>
                        <a:t>Cognitive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MY" sz="2000" noProof="0" dirty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MY" sz="2000" noProof="0" dirty="0">
                        <a:effectLst/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95498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Lecture outcomes</a:t>
            </a:r>
            <a:endParaRPr lang="en-MY" altLang="en-US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At the end of this lecture </a:t>
            </a:r>
            <a:r>
              <a:rPr lang="en-US" altLang="en-US"/>
              <a:t>you should be able to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Recall the concepts of object-oriented programming</a:t>
            </a:r>
          </a:p>
          <a:p>
            <a:pPr lvl="1" eaLnBrk="1" hangingPunct="1"/>
            <a:r>
              <a:rPr lang="en-US" altLang="en-US"/>
              <a:t>Identify and use fundamental </a:t>
            </a:r>
            <a:r>
              <a:rPr lang="en-US" altLang="en-US" dirty="0"/>
              <a:t>object-oriented terms and how they relate to coding</a:t>
            </a:r>
          </a:p>
          <a:p>
            <a:pPr lvl="1" eaLnBrk="1" hangingPunct="1"/>
            <a:r>
              <a:rPr lang="en-US" altLang="en-US" dirty="0"/>
              <a:t>Differentiate between styles of programming languages</a:t>
            </a:r>
          </a:p>
          <a:p>
            <a:pPr lvl="1" eaLnBrk="1" hangingPunct="1"/>
            <a:r>
              <a:rPr lang="en-US" altLang="en-US" dirty="0"/>
              <a:t>Understand the differences and similarities between OO programming languages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0" y="773113"/>
            <a:ext cx="9144000" cy="57150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 sz="5400" i="1" dirty="0">
                <a:latin typeface="Book Antiqua" pitchFamily="18" charset="0"/>
                <a:cs typeface="Times New Roman" pitchFamily="18" charset="0"/>
              </a:rPr>
              <a:t>What do you remember </a:t>
            </a:r>
          </a:p>
          <a:p>
            <a:pPr marL="0" indent="0" algn="ctr">
              <a:buFontTx/>
              <a:buNone/>
            </a:pPr>
            <a:r>
              <a:rPr lang="en-US" altLang="en-US" sz="5400" i="1" dirty="0">
                <a:latin typeface="Book Antiqua" pitchFamily="18" charset="0"/>
                <a:cs typeface="Times New Roman" pitchFamily="18" charset="0"/>
              </a:rPr>
              <a:t>about OOPDS?</a:t>
            </a:r>
            <a:endParaRPr lang="en-MY" altLang="en-US" sz="5400" i="1" dirty="0">
              <a:latin typeface="Book Antiqua" pitchFamily="18" charset="0"/>
              <a:cs typeface="Times New Roman" pitchFamily="18" charset="0"/>
            </a:endParaRPr>
          </a:p>
        </p:txBody>
      </p:sp>
      <p:pic>
        <p:nvPicPr>
          <p:cNvPr id="1028" name="Picture 4" descr="Image result for dory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0" y="2673280"/>
            <a:ext cx="3642960" cy="40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orientation</a:t>
            </a:r>
            <a:endParaRPr lang="en-MY" alt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Is a programming paradigm (style) found in modern programming languages</a:t>
            </a:r>
          </a:p>
          <a:p>
            <a:pPr lvl="1"/>
            <a:r>
              <a:rPr lang="en-MY" altLang="en-US"/>
              <a:t>Procedural paradigm:</a:t>
            </a:r>
          </a:p>
          <a:p>
            <a:pPr lvl="2"/>
            <a:r>
              <a:rPr lang="en-MY" altLang="en-US"/>
              <a:t>Software is organized around the notion of procedures/functions</a:t>
            </a:r>
          </a:p>
          <a:p>
            <a:pPr lvl="2"/>
            <a:r>
              <a:rPr lang="en-MY" altLang="en-US"/>
              <a:t>Works as long as the data is simple</a:t>
            </a:r>
          </a:p>
          <a:p>
            <a:pPr lvl="2"/>
            <a:r>
              <a:rPr lang="en-MY" altLang="en-US"/>
              <a:t>The program is typically modeled with a data flow diagram</a:t>
            </a:r>
          </a:p>
          <a:p>
            <a:pPr lvl="1"/>
            <a:r>
              <a:rPr lang="en-MY" altLang="en-US"/>
              <a:t>Object oriented paradigm: </a:t>
            </a:r>
          </a:p>
          <a:p>
            <a:pPr lvl="2"/>
            <a:r>
              <a:rPr lang="en-MY" altLang="en-US"/>
              <a:t>Revolves around objects and what can they do and how they can perform certain tasks.</a:t>
            </a:r>
          </a:p>
          <a:p>
            <a:pPr lvl="2"/>
            <a:r>
              <a:rPr lang="en-MY" altLang="en-US"/>
              <a:t>The objects are instances of classes, which are data abstractions and contain procedural abstractions that operate on the objects themselves or other objects</a:t>
            </a:r>
          </a:p>
          <a:p>
            <a:pPr lvl="2"/>
            <a:r>
              <a:rPr lang="en-MY" altLang="en-US"/>
              <a:t>A running OO program can be seen as a collection of objects collaborating to perform a given task</a:t>
            </a:r>
          </a:p>
          <a:p>
            <a:pPr lvl="1"/>
            <a:endParaRPr lang="en-MY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000125"/>
            <a:ext cx="87884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an object?</a:t>
            </a:r>
            <a:endParaRPr lang="en-MY" altLang="en-US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A chunk of structured data in a running software system </a:t>
            </a:r>
          </a:p>
          <a:p>
            <a:pPr lvl="1"/>
            <a:r>
              <a:rPr lang="en-MY" altLang="en-US"/>
              <a:t>Has properties that represents its current state</a:t>
            </a:r>
          </a:p>
          <a:p>
            <a:pPr lvl="1"/>
            <a:r>
              <a:rPr lang="en-MY" altLang="en-US"/>
              <a:t>Has behaviour which represents how it acts and reacts</a:t>
            </a:r>
          </a:p>
          <a:p>
            <a:r>
              <a:rPr lang="en-MY" altLang="en-US"/>
              <a:t>May simulate/mirror the behaviour of an object in the real world</a:t>
            </a:r>
          </a:p>
          <a:p>
            <a:endParaRPr lang="en-US" altLang="en-US"/>
          </a:p>
          <a:p>
            <a:r>
              <a:rPr lang="en-US" altLang="en-US"/>
              <a:t>What are examples of objects?</a:t>
            </a:r>
            <a:endParaRPr lang="en-MY" altLang="en-US"/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1303338"/>
            <a:ext cx="8562975" cy="440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classes?</a:t>
            </a:r>
            <a:endParaRPr lang="en-MY" altLang="en-US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A unit of abstraction in an object oriented (OO) program </a:t>
            </a:r>
          </a:p>
          <a:p>
            <a:r>
              <a:rPr lang="en-MY" altLang="en-US"/>
              <a:t>Classes represents similar objects which are required in the program and its instances</a:t>
            </a:r>
          </a:p>
          <a:p>
            <a:endParaRPr lang="en-MY" altLang="en-US"/>
          </a:p>
          <a:p>
            <a:r>
              <a:rPr lang="en-MY" altLang="en-US"/>
              <a:t>In program code, a class is a kind of software module</a:t>
            </a:r>
          </a:p>
          <a:p>
            <a:pPr lvl="1"/>
            <a:r>
              <a:rPr lang="en-MY" altLang="en-US"/>
              <a:t>Describes its instances’ structure (properties)</a:t>
            </a:r>
          </a:p>
          <a:p>
            <a:pPr lvl="1"/>
            <a:r>
              <a:rPr lang="en-MY" altLang="en-US"/>
              <a:t>Contains methods to implement their behaviour</a:t>
            </a:r>
          </a:p>
          <a:p>
            <a:pPr lvl="1"/>
            <a:endParaRPr lang="en-US" altLang="en-US"/>
          </a:p>
          <a:p>
            <a:r>
              <a:rPr lang="en-US" altLang="en-US"/>
              <a:t>What is the difference between </a:t>
            </a:r>
            <a:r>
              <a:rPr lang="en-US" altLang="en-US" i="1">
                <a:solidFill>
                  <a:srgbClr val="FFC000"/>
                </a:solidFill>
              </a:rPr>
              <a:t>class</a:t>
            </a:r>
            <a:r>
              <a:rPr lang="en-US" altLang="en-US" i="1"/>
              <a:t> </a:t>
            </a:r>
            <a:r>
              <a:rPr lang="en-US" altLang="en-US"/>
              <a:t>and </a:t>
            </a:r>
            <a:r>
              <a:rPr lang="en-US" altLang="en-US" i="1">
                <a:solidFill>
                  <a:srgbClr val="FFC000"/>
                </a:solidFill>
              </a:rPr>
              <a:t>instance</a:t>
            </a:r>
            <a:r>
              <a:rPr lang="en-US" altLang="en-US"/>
              <a:t>? Examples?</a:t>
            </a:r>
            <a:endParaRPr lang="en-MY" altLang="en-US"/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OO class naming convention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compiler won’t care, but humans who read your program will:</a:t>
            </a:r>
          </a:p>
          <a:p>
            <a:pPr lvl="1">
              <a:defRPr/>
            </a:pPr>
            <a:r>
              <a:rPr lang="en-MY" dirty="0"/>
              <a:t>Use capital letters for classes</a:t>
            </a:r>
          </a:p>
          <a:p>
            <a:pPr marL="457200" lvl="1" indent="0">
              <a:buFontTx/>
              <a:buNone/>
              <a:defRPr/>
            </a:pPr>
            <a:r>
              <a:rPr lang="en-MY" dirty="0"/>
              <a:t>		E.g. </a:t>
            </a:r>
            <a:r>
              <a:rPr lang="en-MY" dirty="0" err="1"/>
              <a:t>BankAccount</a:t>
            </a:r>
            <a:r>
              <a:rPr lang="en-MY" dirty="0"/>
              <a:t> not </a:t>
            </a:r>
            <a:r>
              <a:rPr lang="en-MY" dirty="0" err="1"/>
              <a:t>bankAccount</a:t>
            </a:r>
            <a:endParaRPr lang="en-MY" dirty="0"/>
          </a:p>
          <a:p>
            <a:pPr lvl="1">
              <a:defRPr/>
            </a:pPr>
            <a:r>
              <a:rPr lang="en-MY" dirty="0"/>
              <a:t>Use singular nouns </a:t>
            </a:r>
          </a:p>
          <a:p>
            <a:pPr marL="1828800" lvl="4" indent="0">
              <a:buFontTx/>
              <a:buNone/>
              <a:defRPr/>
            </a:pPr>
            <a:r>
              <a:rPr lang="en-US" dirty="0"/>
              <a:t>E.g. Student not Students</a:t>
            </a:r>
            <a:endParaRPr lang="en-MY" dirty="0"/>
          </a:p>
          <a:p>
            <a:pPr lvl="1">
              <a:defRPr/>
            </a:pPr>
            <a:r>
              <a:rPr lang="en-MY" dirty="0"/>
              <a:t>Use the right level of generality</a:t>
            </a:r>
          </a:p>
          <a:p>
            <a:pPr marL="1828800" lvl="4" indent="0">
              <a:buFontTx/>
              <a:buNone/>
              <a:defRPr/>
            </a:pPr>
            <a:r>
              <a:rPr lang="en-MY" dirty="0"/>
              <a:t>E.g. Municipality, not City</a:t>
            </a:r>
          </a:p>
          <a:p>
            <a:pPr lvl="1">
              <a:defRPr/>
            </a:pPr>
            <a:r>
              <a:rPr lang="en-MY" dirty="0"/>
              <a:t>Make sure the name has only one meaning</a:t>
            </a:r>
          </a:p>
          <a:p>
            <a:pPr marL="457200" lvl="1" indent="0">
              <a:buFontTx/>
              <a:buNone/>
              <a:defRPr/>
            </a:pPr>
            <a:r>
              <a:rPr lang="en-MY" dirty="0"/>
              <a:t>		E.g. ‘bus’ has several meanings</a:t>
            </a:r>
          </a:p>
          <a:p>
            <a:pPr lvl="1">
              <a:defRPr/>
            </a:pPr>
            <a:endParaRPr lang="en-MY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 variables</a:t>
            </a:r>
            <a:endParaRPr lang="en-MY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Variables defined </a:t>
            </a:r>
            <a:r>
              <a:rPr lang="en-US" altLang="en-US" i="1" dirty="0">
                <a:solidFill>
                  <a:srgbClr val="FFC000"/>
                </a:solidFill>
              </a:rPr>
              <a:t>inside</a:t>
            </a:r>
            <a:r>
              <a:rPr lang="en-US" altLang="en-US" dirty="0">
                <a:solidFill>
                  <a:srgbClr val="FFC000"/>
                </a:solidFill>
              </a:rPr>
              <a:t> </a:t>
            </a:r>
            <a:r>
              <a:rPr lang="en-US" altLang="en-US" dirty="0"/>
              <a:t>a class corresponding to data present in each instance are called </a:t>
            </a:r>
            <a:r>
              <a:rPr lang="en-US" altLang="en-US" b="1" u="sng" dirty="0"/>
              <a:t>instance variables </a:t>
            </a:r>
            <a:r>
              <a:rPr lang="en-US" altLang="en-US" dirty="0"/>
              <a:t>(also called fields or member variables)</a:t>
            </a:r>
          </a:p>
          <a:p>
            <a:pPr lvl="1"/>
            <a:r>
              <a:rPr lang="en-US" altLang="en-US" dirty="0"/>
              <a:t>Identifies the state of an object’s instance</a:t>
            </a:r>
          </a:p>
          <a:p>
            <a:pPr lvl="1"/>
            <a:r>
              <a:rPr lang="en-US" altLang="en-US" dirty="0"/>
              <a:t>Used to represent attributes and/or associations</a:t>
            </a:r>
          </a:p>
          <a:p>
            <a:pPr lvl="2"/>
            <a:r>
              <a:rPr lang="en-US" altLang="en-US" dirty="0"/>
              <a:t>E.g. name, </a:t>
            </a:r>
            <a:r>
              <a:rPr lang="en-US" altLang="en-US" dirty="0" err="1"/>
              <a:t>dateOfBirth</a:t>
            </a:r>
            <a:r>
              <a:rPr lang="en-US" altLang="en-US" dirty="0"/>
              <a:t>, supervisor, </a:t>
            </a:r>
            <a:r>
              <a:rPr lang="en-US" altLang="en-US" dirty="0" err="1"/>
              <a:t>coursesTaken</a:t>
            </a:r>
            <a:endParaRPr lang="en-US" altLang="en-US" dirty="0"/>
          </a:p>
          <a:p>
            <a:r>
              <a:rPr lang="en-GB" altLang="en-US" dirty="0"/>
              <a:t>A </a:t>
            </a:r>
            <a:r>
              <a:rPr lang="en-GB" altLang="en-US" b="1" u="sng" dirty="0"/>
              <a:t>class variable </a:t>
            </a:r>
            <a:r>
              <a:rPr lang="en-GB" altLang="en-US" dirty="0"/>
              <a:t>is a value is shared by all instances of a class (Also called a </a:t>
            </a:r>
            <a:r>
              <a:rPr lang="en-GB" altLang="en-US" dirty="0">
                <a:solidFill>
                  <a:srgbClr val="FFC000"/>
                </a:solidFill>
              </a:rPr>
              <a:t>static variable)</a:t>
            </a:r>
          </a:p>
          <a:p>
            <a:pPr lvl="1"/>
            <a:r>
              <a:rPr lang="en-GB" altLang="en-US" dirty="0"/>
              <a:t>If one instance sets the value of a class variable, then all the other instances see the same changed value.</a:t>
            </a:r>
            <a:r>
              <a:rPr lang="en-US" altLang="en-US" dirty="0"/>
              <a:t> </a:t>
            </a:r>
            <a:endParaRPr lang="en-GB" altLang="en-US" dirty="0"/>
          </a:p>
          <a:p>
            <a:pPr lvl="1"/>
            <a:r>
              <a:rPr lang="en-GB" altLang="en-US" dirty="0"/>
              <a:t>Class variables are useful for:</a:t>
            </a:r>
          </a:p>
          <a:p>
            <a:pPr lvl="2"/>
            <a:r>
              <a:rPr lang="en-GB" altLang="en-US" dirty="0"/>
              <a:t>Default or ‘constant’ values (e.g. PI)</a:t>
            </a:r>
          </a:p>
          <a:p>
            <a:pPr lvl="2"/>
            <a:r>
              <a:rPr lang="en-GB" altLang="en-US" dirty="0"/>
              <a:t>Shared incremental values</a:t>
            </a:r>
          </a:p>
          <a:p>
            <a:pPr lvl="1"/>
            <a:r>
              <a:rPr lang="en-GB" altLang="en-US" dirty="0"/>
              <a:t>Caution: do not over-use class variables because it defeats OO approach of variable responsibility</a:t>
            </a:r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methods</a:t>
            </a:r>
            <a:endParaRPr lang="en-MY" alt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Method</a:t>
            </a:r>
          </a:p>
          <a:p>
            <a:pPr lvl="1"/>
            <a:r>
              <a:rPr lang="en-GB" altLang="en-US" dirty="0"/>
              <a:t>A procedural abstraction used to implement the behaviour of a class – a ‘function’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Several different classes can have methods with the same name</a:t>
            </a:r>
          </a:p>
          <a:p>
            <a:pPr lvl="2"/>
            <a:r>
              <a:rPr lang="en-GB" altLang="en-US" dirty="0"/>
              <a:t>They implement the same abstract operation in ways suitable to each class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Using a common method name makes it easy to remember which function to call in different objects to achieve the same desired output</a:t>
            </a:r>
          </a:p>
          <a:p>
            <a:pPr lvl="3"/>
            <a:r>
              <a:rPr lang="en-US" altLang="en-US" dirty="0"/>
              <a:t>E.g. calculating area in a rectangle is done differently from a circle but each class may have the similarly named method ‘</a:t>
            </a:r>
            <a:r>
              <a:rPr lang="en-US" altLang="en-US" i="1" dirty="0" err="1"/>
              <a:t>calculateArea</a:t>
            </a:r>
            <a:r>
              <a:rPr lang="en-US" altLang="en-US" dirty="0"/>
              <a:t>’</a:t>
            </a:r>
          </a:p>
          <a:p>
            <a:endParaRPr lang="en-MY" alt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  <a:endParaRPr lang="en-MY" alt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</a:t>
            </a:r>
            <a:r>
              <a:rPr lang="en-GB" altLang="en-US"/>
              <a:t> property of object oriented software by which an operation may be performed in different ways in different classes.</a:t>
            </a:r>
            <a:endParaRPr lang="en-US" altLang="en-US"/>
          </a:p>
          <a:p>
            <a:pPr lvl="1"/>
            <a:r>
              <a:rPr lang="en-US" altLang="en-US"/>
              <a:t>Requires that there be multiple methods of the same name</a:t>
            </a:r>
          </a:p>
          <a:p>
            <a:pPr lvl="1"/>
            <a:r>
              <a:rPr lang="en-US" altLang="en-US"/>
              <a:t>The choice of which one to execute depends on the object that is in a variable</a:t>
            </a:r>
          </a:p>
          <a:p>
            <a:pPr lvl="1"/>
            <a:r>
              <a:rPr lang="en-US" altLang="en-US"/>
              <a:t>Reduces the need for programmers to code many if-else or switch statements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What were the conditions required to</a:t>
            </a:r>
            <a:br>
              <a:rPr lang="en-US" altLang="en-US"/>
            </a:br>
            <a:r>
              <a:rPr lang="en-US" altLang="en-US"/>
              <a:t>show methods with polymorphism </a:t>
            </a:r>
            <a:br>
              <a:rPr lang="en-US" altLang="en-US"/>
            </a:br>
            <a:r>
              <a:rPr lang="en-US" altLang="en-US"/>
              <a:t>using C++?</a:t>
            </a:r>
          </a:p>
          <a:p>
            <a:endParaRPr lang="en-MY" altLang="en-US"/>
          </a:p>
        </p:txBody>
      </p:sp>
      <p:pic>
        <p:nvPicPr>
          <p:cNvPr id="2050" name="Picture 2" descr="http://faculty.orangecoastcollege.edu/sgilbert/lessons/ObjectOrientedConcepts/images/polymorphis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445" y="3097475"/>
            <a:ext cx="3718855" cy="373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hierarchies</a:t>
            </a:r>
            <a:endParaRPr lang="en-MY" altLang="en-US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Superclasses</a:t>
            </a:r>
          </a:p>
          <a:p>
            <a:pPr lvl="1"/>
            <a:r>
              <a:rPr lang="en-US" altLang="en-US"/>
              <a:t>Contain features common to a set of subclasses</a:t>
            </a:r>
          </a:p>
          <a:p>
            <a:pPr lvl="1"/>
            <a:r>
              <a:rPr lang="en-US" altLang="en-US"/>
              <a:t>Sometimes called parent class</a:t>
            </a:r>
          </a:p>
          <a:p>
            <a:r>
              <a:rPr lang="en-US" altLang="en-US"/>
              <a:t>Subclasses</a:t>
            </a:r>
          </a:p>
          <a:p>
            <a:pPr lvl="1"/>
            <a:r>
              <a:rPr lang="en-US" altLang="en-US"/>
              <a:t>Inherits from superclasses but contains features unique to the subclass (specialized)</a:t>
            </a:r>
          </a:p>
          <a:p>
            <a:pPr lvl="1"/>
            <a:r>
              <a:rPr lang="en-US" altLang="en-US"/>
              <a:t>Sometimes called child class</a:t>
            </a:r>
          </a:p>
          <a:p>
            <a:r>
              <a:rPr lang="en-US" altLang="en-US"/>
              <a:t>Inheritance hierarchies</a:t>
            </a:r>
          </a:p>
          <a:p>
            <a:pPr lvl="1"/>
            <a:r>
              <a:rPr lang="en-US" altLang="en-US"/>
              <a:t>Show the relationships among superclasses and subclasses</a:t>
            </a:r>
          </a:p>
          <a:p>
            <a:pPr lvl="1"/>
            <a:r>
              <a:rPr lang="en-US" altLang="en-US"/>
              <a:t>A triangle shows a generalization</a:t>
            </a:r>
          </a:p>
          <a:p>
            <a:r>
              <a:rPr lang="en-US" altLang="en-US"/>
              <a:t>Inheritance</a:t>
            </a:r>
          </a:p>
          <a:p>
            <a:pPr lvl="1"/>
            <a:r>
              <a:rPr lang="en-US" altLang="en-US"/>
              <a:t>The implicit possession by all subclasses of features defined in its superclasses</a:t>
            </a:r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9" descr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076325"/>
            <a:ext cx="8734425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322263" y="4643438"/>
            <a:ext cx="86518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800" dirty="0">
                <a:solidFill>
                  <a:schemeClr val="bg1"/>
                </a:solidFill>
              </a:rPr>
              <a:t>Always check generalizations to ensure they obey the 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is-a rule, e.g.:</a:t>
            </a:r>
            <a:endParaRPr lang="en-US" altLang="en-US" sz="2800" dirty="0">
              <a:solidFill>
                <a:schemeClr val="bg1"/>
              </a:solidFill>
            </a:endParaRPr>
          </a:p>
          <a:p>
            <a:pPr lvl="1"/>
            <a:r>
              <a:rPr lang="ja-JP" altLang="en-US" sz="2800" i="1" dirty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“</a:t>
            </a:r>
            <a:r>
              <a:rPr lang="en-US" altLang="ja-JP" sz="2800" i="1" dirty="0">
                <a:solidFill>
                  <a:schemeClr val="bg1"/>
                </a:solidFill>
                <a:ea typeface="ＭＳ Ｐゴシック" charset="-128"/>
              </a:rPr>
              <a:t>A checking account </a:t>
            </a:r>
            <a:r>
              <a:rPr lang="en-US" altLang="ja-JP" sz="2800" b="1" i="1">
                <a:solidFill>
                  <a:srgbClr val="FFC000"/>
                </a:solidFill>
                <a:ea typeface="ＭＳ Ｐゴシック" charset="-128"/>
              </a:rPr>
              <a:t>is a</a:t>
            </a:r>
            <a:r>
              <a:rPr lang="en-US" altLang="ja-JP" sz="2800" b="1" i="1">
                <a:solidFill>
                  <a:schemeClr val="bg1"/>
                </a:solidFill>
                <a:ea typeface="ＭＳ Ｐゴシック" charset="-128"/>
              </a:rPr>
              <a:t> </a:t>
            </a:r>
            <a:r>
              <a:rPr lang="en-US" altLang="ja-JP" sz="2800" i="1">
                <a:solidFill>
                  <a:schemeClr val="bg1"/>
                </a:solidFill>
                <a:ea typeface="ＭＳ Ｐゴシック" charset="-128"/>
              </a:rPr>
              <a:t>(type of) </a:t>
            </a:r>
            <a:r>
              <a:rPr lang="en-US" altLang="ja-JP" sz="2800" i="1" dirty="0">
                <a:solidFill>
                  <a:schemeClr val="bg1"/>
                </a:solidFill>
                <a:ea typeface="ＭＳ Ｐゴシック" charset="-128"/>
              </a:rPr>
              <a:t>account</a:t>
            </a:r>
            <a:r>
              <a:rPr lang="ja-JP" altLang="en-US" sz="2800" i="1" dirty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”</a:t>
            </a:r>
            <a:endParaRPr lang="en-US" altLang="ja-JP" sz="2800" i="1" dirty="0">
              <a:solidFill>
                <a:schemeClr val="bg1"/>
              </a:solidFill>
              <a:ea typeface="ＭＳ Ｐゴシック" charset="-128"/>
            </a:endParaRPr>
          </a:p>
          <a:p>
            <a:pPr lvl="1"/>
            <a:r>
              <a:rPr lang="ja-JP" altLang="en-US" sz="2800" i="1" dirty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“</a:t>
            </a:r>
            <a:r>
              <a:rPr lang="en-US" altLang="ja-JP" sz="2800" i="1" dirty="0">
                <a:solidFill>
                  <a:schemeClr val="bg1"/>
                </a:solidFill>
                <a:ea typeface="ＭＳ Ｐゴシック" charset="-128"/>
              </a:rPr>
              <a:t>A student </a:t>
            </a:r>
            <a:r>
              <a:rPr lang="en-US" altLang="ja-JP" sz="2800" b="1" i="1" dirty="0">
                <a:solidFill>
                  <a:srgbClr val="FFC000"/>
                </a:solidFill>
                <a:ea typeface="ＭＳ Ｐゴシック" charset="-128"/>
              </a:rPr>
              <a:t>is a</a:t>
            </a:r>
            <a:r>
              <a:rPr lang="en-US" altLang="ja-JP" sz="2800" i="1" dirty="0">
                <a:solidFill>
                  <a:srgbClr val="FFC000"/>
                </a:solidFill>
                <a:ea typeface="ＭＳ Ｐゴシック" charset="-128"/>
              </a:rPr>
              <a:t> </a:t>
            </a:r>
            <a:r>
              <a:rPr lang="en-US" altLang="ja-JP" sz="2800" i="1" dirty="0">
                <a:solidFill>
                  <a:schemeClr val="bg1"/>
                </a:solidFill>
                <a:ea typeface="ＭＳ Ｐゴシック" charset="-128"/>
              </a:rPr>
              <a:t>person</a:t>
            </a:r>
            <a:r>
              <a:rPr lang="ja-JP" altLang="en-US" sz="2800" i="1" dirty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”</a:t>
            </a:r>
            <a:endParaRPr lang="en-US" altLang="ja-JP" sz="2800" i="1" dirty="0">
              <a:solidFill>
                <a:schemeClr val="bg1"/>
              </a:solidFill>
              <a:ea typeface="ＭＳ Ｐゴシック" charset="-128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Make sure inherited features make sense in subclasses</a:t>
            </a:r>
            <a:endParaRPr lang="en-MY" altLang="en-US"/>
          </a:p>
        </p:txBody>
      </p:sp>
      <p:pic>
        <p:nvPicPr>
          <p:cNvPr id="17412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1371600"/>
            <a:ext cx="7481887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3433763" y="2290763"/>
            <a:ext cx="2428875" cy="682625"/>
          </a:xfrm>
          <a:prstGeom prst="ellipse">
            <a:avLst/>
          </a:prstGeom>
          <a:noFill/>
          <a:ln w="57150" algn="ctr">
            <a:solidFill>
              <a:srgbClr val="FFC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MY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0" descr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88900"/>
            <a:ext cx="7437438" cy="659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 classes</a:t>
            </a:r>
            <a:endParaRPr lang="en-MY" alt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Abstract classes (AC) are usually the highest in the inheritance hierarchy</a:t>
            </a:r>
          </a:p>
          <a:p>
            <a:r>
              <a:rPr lang="en-US" altLang="en-US"/>
              <a:t>ACs have no implementation and their operations are abstract (method declarations without definitions)</a:t>
            </a:r>
          </a:p>
          <a:p>
            <a:r>
              <a:rPr lang="en-US" altLang="en-US"/>
              <a:t>Because of this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No instances can be created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The opposite of an abstract class is a </a:t>
            </a:r>
            <a:r>
              <a:rPr lang="en-US" altLang="en-US" i="1"/>
              <a:t>concrete</a:t>
            </a:r>
            <a:r>
              <a:rPr lang="en-US" altLang="en-US"/>
              <a:t> class</a:t>
            </a:r>
          </a:p>
          <a:p>
            <a:r>
              <a:rPr lang="en-MY" altLang="en-US"/>
              <a:t>Classes that inherit from ACs MUST override ALL methods from the AC.</a:t>
            </a:r>
          </a:p>
          <a:p>
            <a:r>
              <a:rPr lang="en-MY" altLang="en-US"/>
              <a:t>If a superclass has an abstract operation, then its subclasses at some level must have a concrete method for the operation</a:t>
            </a:r>
          </a:p>
          <a:p>
            <a:pPr lvl="1"/>
            <a:r>
              <a:rPr lang="en-MY" altLang="en-US"/>
              <a:t>Subclasses must have or inherit concrete methods for all operations</a:t>
            </a:r>
          </a:p>
          <a:p>
            <a:pPr lvl="1"/>
            <a:r>
              <a:rPr lang="en-MY" altLang="en-US"/>
              <a:t>Leaf classes (final) must be concrete</a:t>
            </a:r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Overriding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Applies to methods that are inherited from a parent class.</a:t>
            </a:r>
          </a:p>
          <a:p>
            <a:r>
              <a:rPr lang="en-US" altLang="en-US"/>
              <a:t>A public method would normally be inherited, but with overriding the subclass contains a new version instead</a:t>
            </a:r>
          </a:p>
          <a:p>
            <a:pPr lvl="1"/>
            <a:r>
              <a:rPr lang="en-US" altLang="en-US"/>
              <a:t>For restriction</a:t>
            </a:r>
          </a:p>
          <a:p>
            <a:pPr lvl="2"/>
            <a:r>
              <a:rPr lang="en-US" altLang="en-US"/>
              <a:t>E.g.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scale(x,y)</a:t>
            </a:r>
            <a:r>
              <a:rPr lang="en-US" altLang="en-US"/>
              <a:t> would not work in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altLang="en-US"/>
              <a:t> so the method is rewritten</a:t>
            </a:r>
          </a:p>
          <a:p>
            <a:pPr lvl="1"/>
            <a:r>
              <a:rPr lang="en-US" altLang="en-US"/>
              <a:t>For extension</a:t>
            </a:r>
          </a:p>
          <a:p>
            <a:pPr lvl="2"/>
            <a:r>
              <a:rPr lang="en-US" altLang="en-US"/>
              <a:t>E.g.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altLang="en-US"/>
              <a:t> might charge an extra fee following every debit whilst other account types do not</a:t>
            </a:r>
          </a:p>
          <a:p>
            <a:pPr lvl="1"/>
            <a:r>
              <a:rPr lang="en-US" altLang="en-US"/>
              <a:t>For optimization</a:t>
            </a:r>
          </a:p>
          <a:p>
            <a:pPr lvl="2"/>
            <a:r>
              <a:rPr lang="en-US" altLang="en-US"/>
              <a:t>E.g. The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getPerimeterLength</a:t>
            </a:r>
            <a:r>
              <a:rPr lang="en-US" altLang="en-US"/>
              <a:t> method in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altLang="en-US"/>
              <a:t> is much simpler than the one in </a:t>
            </a:r>
            <a:r>
              <a:rPr lang="en-US" altLang="en-US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Ellipse</a:t>
            </a:r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3113"/>
            <a:ext cx="9144000" cy="5715000"/>
          </a:xfrm>
        </p:spPr>
        <p:txBody>
          <a:bodyPr/>
          <a:lstStyle/>
          <a:p>
            <a:pPr marL="0" indent="0" algn="ctr">
              <a:buNone/>
            </a:pPr>
            <a:endParaRPr lang="en-US" sz="5400" i="1" dirty="0">
              <a:latin typeface="Book Antiqua" pitchFamily="18" charset="0"/>
            </a:endParaRPr>
          </a:p>
          <a:p>
            <a:pPr marL="0" indent="0" algn="ctr">
              <a:buNone/>
            </a:pPr>
            <a:endParaRPr lang="en-US" sz="5400" i="1" dirty="0">
              <a:latin typeface="Book Antiqua" pitchFamily="18" charset="0"/>
            </a:endParaRPr>
          </a:p>
          <a:p>
            <a:pPr marL="0" indent="0" algn="ctr">
              <a:buNone/>
            </a:pPr>
            <a:r>
              <a:rPr lang="en-US" sz="5400" i="1" dirty="0">
                <a:latin typeface="Book Antiqua" pitchFamily="18" charset="0"/>
              </a:rPr>
              <a:t>What about overloading??</a:t>
            </a:r>
          </a:p>
        </p:txBody>
      </p:sp>
    </p:spTree>
    <p:extLst>
      <p:ext uri="{BB962C8B-B14F-4D97-AF65-F5344CB8AC3E}">
        <p14:creationId xmlns:p14="http://schemas.microsoft.com/office/powerpoint/2010/main" val="25191709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Access control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dirty="0"/>
              <a:t>Applies to all content in a class</a:t>
            </a:r>
          </a:p>
          <a:p>
            <a:pPr lvl="1"/>
            <a:r>
              <a:rPr lang="en-US" altLang="en-US" dirty="0"/>
              <a:t>public</a:t>
            </a:r>
          </a:p>
          <a:p>
            <a:pPr lvl="2"/>
            <a:r>
              <a:rPr lang="en-US" altLang="en-US" dirty="0"/>
              <a:t>Any class can access</a:t>
            </a:r>
          </a:p>
          <a:p>
            <a:pPr lvl="1"/>
            <a:r>
              <a:rPr lang="en-US" altLang="en-US" dirty="0"/>
              <a:t>protected</a:t>
            </a:r>
          </a:p>
          <a:p>
            <a:pPr lvl="2"/>
            <a:r>
              <a:rPr lang="en-US" altLang="en-US" dirty="0"/>
              <a:t>Only code in the package, or subclasses can access</a:t>
            </a:r>
          </a:p>
          <a:p>
            <a:pPr lvl="1"/>
            <a:r>
              <a:rPr lang="en-US" altLang="en-US" dirty="0"/>
              <a:t>(blank)</a:t>
            </a:r>
          </a:p>
          <a:p>
            <a:pPr lvl="2"/>
            <a:r>
              <a:rPr lang="en-US" altLang="en-US" dirty="0"/>
              <a:t>Only code in the package can access</a:t>
            </a:r>
          </a:p>
          <a:p>
            <a:pPr lvl="1"/>
            <a:r>
              <a:rPr lang="en-US" altLang="en-US" dirty="0"/>
              <a:t>private</a:t>
            </a:r>
          </a:p>
          <a:p>
            <a:pPr lvl="2"/>
            <a:r>
              <a:rPr lang="en-US" altLang="en-US" dirty="0"/>
              <a:t>Only code written in the class can access</a:t>
            </a:r>
          </a:p>
          <a:p>
            <a:pPr lvl="2"/>
            <a:r>
              <a:rPr lang="en-US" altLang="en-US" dirty="0"/>
              <a:t>Inheritance still occurs!</a:t>
            </a:r>
          </a:p>
          <a:p>
            <a:endParaRPr lang="en-MY" alt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Concepts that define 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MY"/>
              <a:t>The following are necessary for a system or language to be OO</a:t>
            </a:r>
          </a:p>
          <a:p>
            <a:pPr>
              <a:defRPr/>
            </a:pPr>
            <a:r>
              <a:rPr lang="en-MY"/>
              <a:t>Identity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MY"/>
              <a:t>Each object is distinct from each other object, and can be referred to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MY"/>
              <a:t>Two objects are distinct even if they have the same data</a:t>
            </a:r>
          </a:p>
          <a:p>
            <a:pPr>
              <a:defRPr/>
            </a:pPr>
            <a:r>
              <a:rPr lang="en-MY"/>
              <a:t>Classes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MY"/>
              <a:t>The code is organized using classes, each of which describes a set of objects</a:t>
            </a:r>
          </a:p>
          <a:p>
            <a:pPr>
              <a:defRPr/>
            </a:pPr>
            <a:r>
              <a:rPr lang="en-MY"/>
              <a:t>Inheritance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MY"/>
              <a:t>The mechanism where features in a hierarchy inherit from superclasses to subclasses</a:t>
            </a:r>
          </a:p>
          <a:p>
            <a:pPr>
              <a:defRPr/>
            </a:pPr>
            <a:r>
              <a:rPr lang="en-MY"/>
              <a:t>Polymorphism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MY"/>
              <a:t>The mechanism by which several methods can have the same name and implement the same abstract operation.</a:t>
            </a:r>
          </a:p>
          <a:p>
            <a:pPr>
              <a:defRPr/>
            </a:pPr>
            <a:endParaRPr lang="en-MY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Other key concepts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Abstraction</a:t>
            </a:r>
          </a:p>
          <a:p>
            <a:pPr lvl="1"/>
            <a:r>
              <a:rPr lang="en-US" altLang="en-US" dirty="0"/>
              <a:t>Object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something in the world</a:t>
            </a:r>
          </a:p>
          <a:p>
            <a:pPr lvl="1"/>
            <a:r>
              <a:rPr lang="en-US" altLang="en-US" dirty="0"/>
              <a:t>Class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objects</a:t>
            </a:r>
          </a:p>
          <a:p>
            <a:pPr lvl="1"/>
            <a:r>
              <a:rPr lang="en-US" altLang="en-US" dirty="0"/>
              <a:t>Superclass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subclasses</a:t>
            </a:r>
          </a:p>
          <a:p>
            <a:pPr lvl="1"/>
            <a:r>
              <a:rPr lang="en-US" altLang="en-US" dirty="0"/>
              <a:t>Operation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methods</a:t>
            </a:r>
          </a:p>
          <a:p>
            <a:pPr lvl="1"/>
            <a:r>
              <a:rPr lang="en-US" altLang="en-US" dirty="0"/>
              <a:t>Attributes and associations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instance variables</a:t>
            </a:r>
          </a:p>
          <a:p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Code can be constructed entirely of classes</a:t>
            </a:r>
          </a:p>
          <a:p>
            <a:r>
              <a:rPr lang="en-US" altLang="en-US" dirty="0"/>
              <a:t>Encapsulation</a:t>
            </a:r>
          </a:p>
          <a:p>
            <a:pPr lvl="1"/>
            <a:r>
              <a:rPr lang="en-US" altLang="en-US" dirty="0"/>
              <a:t>Details can be hidden in classes</a:t>
            </a:r>
          </a:p>
          <a:p>
            <a:pPr lvl="1"/>
            <a:r>
              <a:rPr lang="en-GB" altLang="en-US" dirty="0"/>
              <a:t>This gives rise to information hiding: </a:t>
            </a:r>
          </a:p>
          <a:p>
            <a:pPr lvl="2"/>
            <a:r>
              <a:rPr lang="en-GB" altLang="en-US" dirty="0"/>
              <a:t>Programmers do not need to know all the details of a class</a:t>
            </a:r>
            <a:r>
              <a:rPr lang="en-US" altLang="en-US" dirty="0"/>
              <a:t> </a:t>
            </a:r>
          </a:p>
          <a:p>
            <a:endParaRPr lang="en-MY" alt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Java backstory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The first object oriented programming language was Simula-67 </a:t>
            </a:r>
          </a:p>
          <a:p>
            <a:pPr lvl="1">
              <a:buFont typeface="Wingdings" pitchFamily="2" charset="2"/>
              <a:buChar char="ü"/>
            </a:pPr>
            <a:r>
              <a:rPr lang="en-MY" altLang="en-US"/>
              <a:t>designed to allow programmers to write simulation programs </a:t>
            </a:r>
          </a:p>
          <a:p>
            <a:r>
              <a:rPr lang="en-MY" altLang="en-US"/>
              <a:t>In the early 1980’s, Smalltalk was developed at Xerox PARC </a:t>
            </a:r>
          </a:p>
          <a:p>
            <a:pPr lvl="1">
              <a:buFont typeface="Wingdings" pitchFamily="2" charset="2"/>
              <a:buChar char="ü"/>
            </a:pPr>
            <a:r>
              <a:rPr lang="en-MY" altLang="en-US"/>
              <a:t>New syntax, large open-source library of reusable code, bytecode, platform independence, garbage collection.</a:t>
            </a:r>
          </a:p>
          <a:p>
            <a:r>
              <a:rPr lang="en-MY" altLang="en-US"/>
              <a:t>Late 1980’s, C++ was developed by B. Stroustrup, </a:t>
            </a:r>
          </a:p>
          <a:p>
            <a:pPr lvl="1">
              <a:buFont typeface="Wingdings" pitchFamily="2" charset="2"/>
              <a:buChar char="ü"/>
            </a:pPr>
            <a:r>
              <a:rPr lang="en-MY" altLang="en-US"/>
              <a:t>Recognized the advantages of OO but also recognized that there were tremendous numbers of C programmers</a:t>
            </a:r>
          </a:p>
          <a:p>
            <a:r>
              <a:rPr lang="en-MY" altLang="en-US"/>
              <a:t>In 1991, engineers at Sun Microsystems started a project to design a language that could be used in consumer ‘smart devices’: Oak </a:t>
            </a:r>
          </a:p>
          <a:p>
            <a:pPr lvl="1">
              <a:buFont typeface="Wingdings" pitchFamily="2" charset="2"/>
              <a:buChar char="ü"/>
            </a:pPr>
            <a:r>
              <a:rPr lang="en-MY" altLang="en-US"/>
              <a:t>When the Internet gained popularity, Sun saw an opportunity to exploit the technology. </a:t>
            </a:r>
          </a:p>
          <a:p>
            <a:pPr lvl="1">
              <a:buFont typeface="Wingdings" pitchFamily="2" charset="2"/>
              <a:buChar char="ü"/>
            </a:pPr>
            <a:r>
              <a:rPr lang="en-MY" altLang="en-US"/>
              <a:t>The new language, renamed Java, was formally presented in 1995 at the SunWorld ’95 conference.</a:t>
            </a:r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Why Java?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dirty="0"/>
              <a:t>Java is an OO programming language which is:</a:t>
            </a:r>
          </a:p>
          <a:p>
            <a:pPr lvl="1"/>
            <a:r>
              <a:rPr lang="en-MY" altLang="en-US" dirty="0"/>
              <a:t>simple (C,C++ syntax, single inheritance, auto-garbage-collection)</a:t>
            </a:r>
          </a:p>
          <a:p>
            <a:pPr lvl="1"/>
            <a:r>
              <a:rPr lang="en-MY" altLang="en-US" dirty="0"/>
              <a:t>reliable (strong typing, no pointer-arithmetic, exception handling)</a:t>
            </a:r>
          </a:p>
          <a:p>
            <a:pPr lvl="1"/>
            <a:r>
              <a:rPr lang="en-MY" altLang="en-US" dirty="0"/>
              <a:t>platform-independent (compiles to virtual machine)</a:t>
            </a:r>
          </a:p>
          <a:p>
            <a:pPr lvl="1" eaLnBrk="1" hangingPunct="1"/>
            <a:r>
              <a:rPr lang="en-US" altLang="en-US" dirty="0"/>
              <a:t>Inherently multithreaded - you can create multithreaded programs (very useful for GUI or network apps)</a:t>
            </a:r>
          </a:p>
          <a:p>
            <a:pPr lvl="1" eaLnBrk="1" hangingPunct="1"/>
            <a:r>
              <a:rPr lang="en-US" altLang="en-US" dirty="0"/>
              <a:t>Well documented </a:t>
            </a:r>
            <a:r>
              <a:rPr lang="en-US" altLang="en-US"/>
              <a:t>libraries (called </a:t>
            </a:r>
            <a:r>
              <a:rPr lang="en-US" altLang="en-US">
                <a:solidFill>
                  <a:srgbClr val="FFC000"/>
                </a:solidFill>
              </a:rPr>
              <a:t>packages</a:t>
            </a:r>
            <a:r>
              <a:rPr lang="en-US" altLang="en-US"/>
              <a:t> </a:t>
            </a:r>
            <a:r>
              <a:rPr lang="en-US" altLang="en-US" dirty="0"/>
              <a:t>in Java)</a:t>
            </a:r>
          </a:p>
          <a:p>
            <a:pPr lvl="1" eaLnBrk="1" hangingPunct="1"/>
            <a:r>
              <a:rPr lang="en-US" altLang="en-US" dirty="0"/>
              <a:t>Hardware </a:t>
            </a:r>
            <a:r>
              <a:rPr lang="en-US" altLang="en-US"/>
              <a:t>support (Android mobile platform, </a:t>
            </a:r>
            <a:r>
              <a:rPr lang="en-US" altLang="en-US" dirty="0"/>
              <a:t>media </a:t>
            </a:r>
            <a:r>
              <a:rPr lang="en-US" altLang="en-US"/>
              <a:t>platform)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Any OO language could be used for this course (e.g. C++, C#, Ruby, PHP, etc) but Java is chosen because majority of its syntax follows what you already have learnt from C++</a:t>
            </a:r>
            <a:endParaRPr lang="en-US" altLang="en-US" dirty="0"/>
          </a:p>
          <a:p>
            <a:endParaRPr lang="en-MY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WORM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Write Once, Run Many</a:t>
            </a:r>
          </a:p>
          <a:p>
            <a:r>
              <a:rPr lang="en-US" altLang="en-US"/>
              <a:t>Java Programs compile to a Java Byte Code binary.</a:t>
            </a:r>
          </a:p>
          <a:p>
            <a:r>
              <a:rPr lang="en-US" altLang="en-US"/>
              <a:t>All Java Virtual Machines (Windows JVM, Solaris JVM) understand Java Byte Code</a:t>
            </a:r>
          </a:p>
          <a:p>
            <a:r>
              <a:rPr lang="en-US" altLang="en-US"/>
              <a:t>Therefore, Java is </a:t>
            </a:r>
            <a:r>
              <a:rPr lang="en-US" altLang="en-US" i="1"/>
              <a:t>relatively </a:t>
            </a:r>
            <a:r>
              <a:rPr lang="en-US" altLang="en-US"/>
              <a:t>platform independent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2"/>
          <a:stretch/>
        </p:blipFill>
        <p:spPr bwMode="auto">
          <a:xfrm>
            <a:off x="701675" y="3007360"/>
            <a:ext cx="7772400" cy="3429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Using Java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To run Java, you need the Java Runtime Environment (JRE)</a:t>
            </a:r>
          </a:p>
          <a:p>
            <a:pPr lvl="1"/>
            <a:r>
              <a:rPr lang="en-MY" altLang="en-US"/>
              <a:t>Specific for each platform</a:t>
            </a:r>
          </a:p>
          <a:p>
            <a:pPr lvl="1"/>
            <a:r>
              <a:rPr lang="en-MY" altLang="en-US"/>
              <a:t>Executes compiled binaries in a virtualized environment</a:t>
            </a:r>
          </a:p>
          <a:p>
            <a:r>
              <a:rPr lang="en-MY" altLang="en-US"/>
              <a:t>To code in Java, you need the Java Development Kit (JDK)</a:t>
            </a:r>
          </a:p>
          <a:p>
            <a:pPr lvl="1"/>
            <a:r>
              <a:rPr lang="en-MY" altLang="en-US"/>
              <a:t>Each JDK is specific for each platform.</a:t>
            </a:r>
          </a:p>
          <a:p>
            <a:pPr lvl="1"/>
            <a:r>
              <a:rPr lang="en-MY" altLang="en-US"/>
              <a:t>Compiles Java code into byte code (binaries) for the target platform.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Similarities between C++ and Java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dirty="0"/>
              <a:t>Most OO concepts are carried over from C++ - the syntax is just possibly different</a:t>
            </a:r>
          </a:p>
          <a:p>
            <a:r>
              <a:rPr lang="en-MY" altLang="en-US" dirty="0"/>
              <a:t>Basic programming concepts remain the same - control structures (loops, case, if-else </a:t>
            </a:r>
            <a:r>
              <a:rPr lang="en-MY" altLang="en-US" dirty="0" err="1"/>
              <a:t>etc</a:t>
            </a:r>
            <a:r>
              <a:rPr lang="en-MY" altLang="en-US" dirty="0"/>
              <a:t>), operators (relational, mathematical, set, logical, bitwise)</a:t>
            </a:r>
          </a:p>
          <a:p>
            <a:r>
              <a:rPr lang="en-MY" altLang="en-US" dirty="0"/>
              <a:t>Variables from C++ work similarly in Java (but their scope and capacity maybe different)</a:t>
            </a:r>
          </a:p>
          <a:p>
            <a:r>
              <a:rPr lang="en-MY" altLang="en-US" dirty="0"/>
              <a:t>Arrays work the same but has alternative declaration style</a:t>
            </a:r>
          </a:p>
          <a:p>
            <a:r>
              <a:rPr lang="en-MY" altLang="en-US" dirty="0"/>
              <a:t>Similar method of writing functions (return type, name + parameters)</a:t>
            </a:r>
          </a:p>
          <a:p>
            <a:r>
              <a:rPr lang="en-MY" altLang="en-US" dirty="0"/>
              <a:t>Naming styles are the same – </a:t>
            </a:r>
            <a:r>
              <a:rPr lang="en-MY" altLang="en-US" dirty="0" err="1"/>
              <a:t>CaSe</a:t>
            </a:r>
            <a:r>
              <a:rPr lang="en-MY" altLang="en-US" dirty="0"/>
              <a:t> </a:t>
            </a:r>
            <a:r>
              <a:rPr lang="en-MY" altLang="en-US" dirty="0" err="1"/>
              <a:t>SeNsItIvE</a:t>
            </a:r>
            <a:r>
              <a:rPr lang="en-MY" altLang="en-US" dirty="0"/>
              <a:t> too!</a:t>
            </a:r>
          </a:p>
          <a:p>
            <a:endParaRPr lang="en-MY" altLang="en-US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Differences between C++ / Java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042296"/>
              </p:ext>
            </p:extLst>
          </p:nvPr>
        </p:nvGraphicFramePr>
        <p:xfrm>
          <a:off x="0" y="773113"/>
          <a:ext cx="9144000" cy="5730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C++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Java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1">
                <a:tc>
                  <a:txBody>
                    <a:bodyPr/>
                    <a:lstStyle/>
                    <a:p>
                      <a:r>
                        <a:rPr lang="en-MY" sz="1800"/>
                        <a:t>Has</a:t>
                      </a:r>
                      <a:r>
                        <a:rPr lang="en-MY" sz="1800" baseline="0"/>
                        <a:t> preprocessor statements (include, define)</a:t>
                      </a:r>
                      <a:endParaRPr lang="en-MY" sz="18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preprocessor (no #includes</a:t>
                      </a:r>
                      <a:r>
                        <a:rPr lang="en-MY" sz="1800" baseline="0"/>
                        <a:t> ….)</a:t>
                      </a:r>
                      <a:endParaRPr lang="en-MY" sz="180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Has enum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enums but has named constraints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Can have standalone</a:t>
                      </a:r>
                      <a:r>
                        <a:rPr lang="en-MY" sz="1800" baseline="0"/>
                        <a:t> functions </a:t>
                      </a:r>
                      <a:endParaRPr lang="en-MY" sz="18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All functions MUST belong to a</a:t>
                      </a:r>
                      <a:r>
                        <a:rPr lang="en-MY" sz="1800" baseline="0"/>
                        <a:t> class</a:t>
                      </a:r>
                      <a:endParaRPr lang="en-MY" sz="180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Has global functions and</a:t>
                      </a:r>
                      <a:r>
                        <a:rPr lang="en-MY" sz="1800" baseline="0"/>
                        <a:t> data</a:t>
                      </a:r>
                      <a:endParaRPr lang="en-MY" sz="18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global functions or data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Can have multiple inheritance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multiple inheritance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51">
                <a:tc>
                  <a:txBody>
                    <a:bodyPr/>
                    <a:lstStyle/>
                    <a:p>
                      <a:r>
                        <a:rPr lang="en-MY" sz="1800"/>
                        <a:t>Inherits</a:t>
                      </a:r>
                      <a:r>
                        <a:rPr lang="en-MY" sz="1800" baseline="0"/>
                        <a:t> legacy goto commands</a:t>
                      </a:r>
                      <a:endParaRPr lang="en-MY" sz="18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goto but still supports break and continue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Operator overloading is allowed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operator overloading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No garbage</a:t>
                      </a:r>
                      <a:r>
                        <a:rPr lang="en-MY" sz="1800" baseline="0"/>
                        <a:t> collection</a:t>
                      </a:r>
                      <a:endParaRPr lang="en-MY" sz="18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Automatic garbage</a:t>
                      </a:r>
                      <a:r>
                        <a:rPr lang="en-MY" sz="1800" baseline="0"/>
                        <a:t> collection</a:t>
                      </a:r>
                      <a:endParaRPr lang="en-MY" sz="180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Automatic type conversion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automatic</a:t>
                      </a:r>
                      <a:r>
                        <a:rPr lang="en-MY" sz="1800" baseline="0"/>
                        <a:t> </a:t>
                      </a:r>
                      <a:r>
                        <a:rPr lang="en-MY" sz="1800"/>
                        <a:t>type conversion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Has pointers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 pointers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Different size variables / platform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Similar sized variables / platform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No boolean (uses integer)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True</a:t>
                      </a:r>
                      <a:r>
                        <a:rPr lang="en-MY" sz="1800" baseline="0"/>
                        <a:t> boolean variable</a:t>
                      </a:r>
                      <a:endParaRPr lang="en-MY" sz="180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MY" sz="1800"/>
                        <a:t>8-bit char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16-bit</a:t>
                      </a:r>
                      <a:r>
                        <a:rPr lang="en-MY" sz="1800" baseline="0"/>
                        <a:t> char</a:t>
                      </a:r>
                      <a:endParaRPr lang="en-MY" sz="180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Java programming quirks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Language evolution and deprecated features: </a:t>
            </a:r>
          </a:p>
          <a:p>
            <a:pPr lvl="1"/>
            <a:r>
              <a:rPr lang="en-US" altLang="en-US"/>
              <a:t>Java is constantly evolving, so some features are </a:t>
            </a:r>
            <a:r>
              <a:rPr lang="ja-JP" altLang="en-US">
                <a:ea typeface="ＭＳ Ｐゴシック" charset="-128"/>
              </a:rPr>
              <a:t>‘</a:t>
            </a:r>
            <a:r>
              <a:rPr lang="en-US" altLang="ja-JP">
                <a:ea typeface="ＭＳ Ｐゴシック" charset="-128"/>
              </a:rPr>
              <a:t>deprecated</a:t>
            </a:r>
            <a:r>
              <a:rPr lang="ja-JP" altLang="en-US">
                <a:ea typeface="ＭＳ Ｐゴシック" charset="-128"/>
              </a:rPr>
              <a:t>’</a:t>
            </a:r>
            <a:r>
              <a:rPr lang="en-US" altLang="ja-JP">
                <a:ea typeface="ＭＳ Ｐゴシック" charset="-128"/>
              </a:rPr>
              <a:t> at every release</a:t>
            </a:r>
          </a:p>
          <a:p>
            <a:pPr lvl="1"/>
            <a:r>
              <a:rPr lang="en-US" altLang="en-US"/>
              <a:t>But the same thing is true of most other languages</a:t>
            </a:r>
          </a:p>
          <a:p>
            <a:pPr lvl="2"/>
            <a:endParaRPr lang="en-US" altLang="en-US"/>
          </a:p>
          <a:p>
            <a:r>
              <a:rPr lang="en-GB" altLang="en-US"/>
              <a:t>Efficiency can be a concern in some object oriented systems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Java can be less efficient than other languages</a:t>
            </a:r>
          </a:p>
          <a:p>
            <a:pPr lvl="2"/>
            <a:r>
              <a:rPr lang="en-US" altLang="en-US"/>
              <a:t>VM-based</a:t>
            </a:r>
          </a:p>
          <a:p>
            <a:pPr lvl="2"/>
            <a:r>
              <a:rPr lang="en-US" altLang="en-US"/>
              <a:t>Dynamic binding</a:t>
            </a:r>
          </a:p>
          <a:p>
            <a:endParaRPr lang="en-MY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Java program types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There are two major types of Java programs</a:t>
            </a:r>
            <a:endParaRPr lang="en-MY" altLang="en-US" dirty="0"/>
          </a:p>
          <a:p>
            <a:pPr lvl="1"/>
            <a:r>
              <a:rPr lang="en-MY" altLang="en-US"/>
              <a:t>Java applications</a:t>
            </a:r>
            <a:endParaRPr lang="en-MY" altLang="en-US" dirty="0"/>
          </a:p>
          <a:p>
            <a:pPr lvl="2"/>
            <a:r>
              <a:rPr lang="en-MY" altLang="en-US" dirty="0"/>
              <a:t>Standalone applications</a:t>
            </a:r>
          </a:p>
          <a:p>
            <a:pPr lvl="2"/>
            <a:r>
              <a:rPr lang="en-MY" altLang="en-US" dirty="0"/>
              <a:t>This can be command-line based (no/basic text interface, just plain text on screen) or Graphical User Interface based (using WIMP)</a:t>
            </a:r>
          </a:p>
          <a:p>
            <a:pPr lvl="1"/>
            <a:r>
              <a:rPr lang="en-MY" altLang="en-US" dirty="0"/>
              <a:t>Java applets</a:t>
            </a:r>
          </a:p>
          <a:p>
            <a:pPr lvl="2"/>
            <a:r>
              <a:rPr lang="en-MY" altLang="en-US" dirty="0"/>
              <a:t>‘mini’ programs that are small and run </a:t>
            </a:r>
            <a:r>
              <a:rPr lang="en-MY" altLang="en-US" i="1" dirty="0"/>
              <a:t>inside</a:t>
            </a:r>
            <a:r>
              <a:rPr lang="en-MY" altLang="en-US" dirty="0"/>
              <a:t> a web browser and rely on support from </a:t>
            </a:r>
            <a:r>
              <a:rPr lang="en-MY" altLang="en-US"/>
              <a:t>browser features</a:t>
            </a:r>
          </a:p>
          <a:p>
            <a:pPr lvl="2"/>
            <a:r>
              <a:rPr lang="en-US" altLang="en-US"/>
              <a:t>no longer supported or recommended</a:t>
            </a:r>
          </a:p>
          <a:p>
            <a:pPr lvl="2"/>
            <a:r>
              <a:rPr lang="en-US" altLang="en-US"/>
              <a:t>replaced with webstart applications (not covered in TCP2201)</a:t>
            </a:r>
            <a:endParaRPr lang="en-MY" altLang="en-US"/>
          </a:p>
          <a:p>
            <a:endParaRPr lang="en-US" altLang="en-US"/>
          </a:p>
          <a:p>
            <a:r>
              <a:rPr lang="en-US" altLang="en-US"/>
              <a:t>TCP2201 will only focus on </a:t>
            </a:r>
            <a:r>
              <a:rPr lang="en-US" altLang="en-US" u="sng"/>
              <a:t>Java applications</a:t>
            </a:r>
            <a:r>
              <a:rPr lang="en-US" altLang="en-US"/>
              <a:t> since modern browsers have deprecated support for NPAPI plugins (which applets require to run)</a:t>
            </a:r>
            <a:endParaRPr lang="en-MY" alt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C#?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Proprietary language that runs optimally on Windows – possible to run on other platforms but requires work</a:t>
            </a:r>
          </a:p>
          <a:p>
            <a:r>
              <a:rPr lang="en-US" dirty="0"/>
              <a:t>C# gets a bad reputation from its dirty little cousin VB</a:t>
            </a:r>
          </a:p>
          <a:p>
            <a:r>
              <a:rPr lang="en-US" dirty="0"/>
              <a:t>Proprietary compilers are closed source for majority of the versions but available for free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Exposure to more languages to prepare you for FYP/real world</a:t>
            </a:r>
          </a:p>
          <a:p>
            <a:r>
              <a:rPr lang="en-US" dirty="0"/>
              <a:t>You might not understand C++ that well so its better to start with a new language that tries to fix some of C++’s problems</a:t>
            </a:r>
          </a:p>
          <a:p>
            <a:r>
              <a:rPr lang="en-US" dirty="0"/>
              <a:t>Opportunity to be certified as JCP or MCP – C++ has no certifications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3936" y="3046475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3399FF"/>
                </a:solidFill>
                <a:latin typeface="Book Antiqua" pitchFamily="18" charset="0"/>
              </a:defRPr>
            </a:lvl9pPr>
          </a:lstStyle>
          <a:p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Why not stick with C++?</a:t>
            </a:r>
          </a:p>
        </p:txBody>
      </p:sp>
    </p:spTree>
    <p:extLst>
      <p:ext uri="{BB962C8B-B14F-4D97-AF65-F5344CB8AC3E}">
        <p14:creationId xmlns:p14="http://schemas.microsoft.com/office/powerpoint/2010/main" val="288970543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Revision!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/>
              <a:t>What you need to do before the next class:</a:t>
            </a:r>
          </a:p>
          <a:p>
            <a:pPr lvl="1"/>
            <a:r>
              <a:rPr lang="en-MY" altLang="en-US"/>
              <a:t>Quick revision on C++ for the basic concepts</a:t>
            </a:r>
          </a:p>
          <a:p>
            <a:pPr lvl="1"/>
            <a:r>
              <a:rPr lang="en-MY" altLang="en-US"/>
              <a:t>Java programming will be covered fairly quickly so your fundamentals should be strong enough</a:t>
            </a:r>
          </a:p>
          <a:p>
            <a:pPr lvl="1"/>
            <a:r>
              <a:rPr lang="en-MY" altLang="en-US"/>
              <a:t>Basics will NOT be covered again (e.g. no more explaining what if-else is and what it does)</a:t>
            </a:r>
          </a:p>
          <a:p>
            <a:pPr lvl="1"/>
            <a:endParaRPr lang="en-MY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Requirements to pass a 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MY" dirty="0">
              <a:effectLst>
                <a:glow rad="127000">
                  <a:srgbClr val="000000"/>
                </a:glow>
              </a:effectLst>
            </a:endParaRPr>
          </a:p>
          <a:p>
            <a:pPr marL="0" indent="0" algn="ctr">
              <a:buNone/>
            </a:pPr>
            <a:endParaRPr lang="en-MY" dirty="0"/>
          </a:p>
          <a:p>
            <a:r>
              <a:rPr lang="en-MY" sz="4000" dirty="0"/>
              <a:t>Achieve at least 40%  for formative (coursework) assessment, and</a:t>
            </a:r>
          </a:p>
          <a:p>
            <a:r>
              <a:rPr lang="en-MY" sz="4000" dirty="0"/>
              <a:t>Achieve at least 40% for summative (final exam) assessment, and</a:t>
            </a:r>
          </a:p>
          <a:p>
            <a:r>
              <a:rPr lang="en-MY" sz="4000" dirty="0"/>
              <a:t>Achieve at least 40% overall mark (coursework + final exam).</a:t>
            </a:r>
          </a:p>
        </p:txBody>
      </p:sp>
    </p:spTree>
    <p:extLst>
      <p:ext uri="{BB962C8B-B14F-4D97-AF65-F5344CB8AC3E}">
        <p14:creationId xmlns:p14="http://schemas.microsoft.com/office/powerpoint/2010/main" val="20443147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1090025">
  <a:themeElements>
    <a:clrScheme name="0109002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01090025">
      <a:majorFont>
        <a:latin typeface="Book Antiqua"/>
        <a:ea typeface=""/>
        <a:cs typeface=""/>
      </a:majorFont>
      <a:minorFont>
        <a:latin typeface="Basic Sans S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0109002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01090025</Template>
  <TotalTime>2545</TotalTime>
  <Words>2007</Words>
  <Application>Microsoft Office PowerPoint</Application>
  <PresentationFormat>On-screen Show (4:3)</PresentationFormat>
  <Paragraphs>275</Paragraphs>
  <Slides>34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01090025</vt:lpstr>
      <vt:lpstr>Introduction</vt:lpstr>
      <vt:lpstr>Course Learning Outcomes</vt:lpstr>
      <vt:lpstr>Lecture outcomes</vt:lpstr>
      <vt:lpstr>PowerPoint Presentation</vt:lpstr>
      <vt:lpstr>Object orientation</vt:lpstr>
      <vt:lpstr>PowerPoint Presentation</vt:lpstr>
      <vt:lpstr>What is an object?</vt:lpstr>
      <vt:lpstr>PowerPoint Presentation</vt:lpstr>
      <vt:lpstr>What are classes?</vt:lpstr>
      <vt:lpstr>OO class naming convention</vt:lpstr>
      <vt:lpstr>Object variables</vt:lpstr>
      <vt:lpstr>Object methods</vt:lpstr>
      <vt:lpstr>Polymorphism</vt:lpstr>
      <vt:lpstr>Inheritance hierarchies</vt:lpstr>
      <vt:lpstr>PowerPoint Presentation</vt:lpstr>
      <vt:lpstr>PowerPoint Presentation</vt:lpstr>
      <vt:lpstr>PowerPoint Presentation</vt:lpstr>
      <vt:lpstr>Abstract classes</vt:lpstr>
      <vt:lpstr>Overriding</vt:lpstr>
      <vt:lpstr>PowerPoint Presentation</vt:lpstr>
      <vt:lpstr>Access control</vt:lpstr>
      <vt:lpstr>Concepts that define OO</vt:lpstr>
      <vt:lpstr>Other key concepts</vt:lpstr>
      <vt:lpstr>Java backstory</vt:lpstr>
      <vt:lpstr>Why Java?</vt:lpstr>
      <vt:lpstr>WORM</vt:lpstr>
      <vt:lpstr>Using Java</vt:lpstr>
      <vt:lpstr>Similarities between C++ and Java</vt:lpstr>
      <vt:lpstr>Differences between C++ / Java</vt:lpstr>
      <vt:lpstr>Java programming quirks</vt:lpstr>
      <vt:lpstr>Java program types</vt:lpstr>
      <vt:lpstr>Why not C#?</vt:lpstr>
      <vt:lpstr>Revision!</vt:lpstr>
      <vt:lpstr>Requirements to pass a subject</vt:lpstr>
    </vt:vector>
  </TitlesOfParts>
  <Company>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WKS</dc:creator>
  <cp:lastModifiedBy>MMU</cp:lastModifiedBy>
  <cp:revision>96</cp:revision>
  <dcterms:created xsi:type="dcterms:W3CDTF">2006-02-03T14:02:10Z</dcterms:created>
  <dcterms:modified xsi:type="dcterms:W3CDTF">2024-03-27T04:30:02Z</dcterms:modified>
</cp:coreProperties>
</file>